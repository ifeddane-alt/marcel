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B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B2545"/>
                </a:solidFill>
                <a:latin typeface="Arial"/>
              </a:rPr>
              <a:t>PROJETENNE  ·  EXPORT COPIL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B2545"/>
                </a:solidFill>
                <a:latin typeface="Arial"/>
              </a:rPr>
              <a:t>COPIL Mensuel Avril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E293B"/>
                </a:solidFill>
                <a:latin typeface="Arial"/>
              </a:rPr>
              <a:t>24/04/2025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42032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Arial"/>
              </a:rPr>
              <a:t>3 projets en périmètre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971800"/>
            <a:ext cx="11457432" cy="274320"/>
          </a:xfrm>
          <a:prstGeom prst="rect">
            <a:avLst/>
          </a:prstGeom>
          <a:solidFill>
            <a:srgbClr val="0B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017520"/>
            <a:ext cx="111831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FFFFFF"/>
                </a:solidFill>
                <a:latin typeface="Arial"/>
              </a:rPr>
              <a:t>PROJETS EN PÉRIMÈTRE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46120"/>
            <a:ext cx="11457432" cy="356616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3246120"/>
            <a:ext cx="64008" cy="356616"/>
          </a:xfrm>
          <a:prstGeom prst="rect">
            <a:avLst/>
          </a:prstGeom>
          <a:solidFill>
            <a:srgbClr val="F59E0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331012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293B"/>
                </a:solidFill>
                <a:latin typeface="Arial"/>
              </a:rPr>
              <a:t>Projet Phoenix — Transformation Digitale Groupe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94392" y="331012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4748B"/>
                </a:solidFill>
                <a:latin typeface="Arial"/>
              </a:rPr>
              <a:t>4 200 K€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30168"/>
            <a:ext cx="11457432" cy="356616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630168"/>
            <a:ext cx="64008" cy="356616"/>
          </a:xfrm>
          <a:prstGeom prst="rect">
            <a:avLst/>
          </a:prstGeom>
          <a:solidFill>
            <a:srgbClr val="10B98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3694176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293B"/>
                </a:solidFill>
                <a:latin typeface="Arial"/>
              </a:rPr>
              <a:t>Modernisation SI Finance &amp; Contrôle de Gestion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94392" y="369417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4748B"/>
                </a:solidFill>
                <a:latin typeface="Arial"/>
              </a:rPr>
              <a:t>1 800 K€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014216"/>
            <a:ext cx="11457432" cy="356616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4014216"/>
            <a:ext cx="64008" cy="356616"/>
          </a:xfrm>
          <a:prstGeom prst="rect">
            <a:avLst/>
          </a:prstGeom>
          <a:solidFill>
            <a:srgbClr val="EF444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4078224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293B"/>
                </a:solidFill>
                <a:latin typeface="Arial"/>
              </a:rPr>
              <a:t>Déploiement ERP SAP S/4HANA — Core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94392" y="407822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4748B"/>
                </a:solidFill>
                <a:latin typeface="Arial"/>
              </a:rPr>
              <a:t>5 000 K€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583680"/>
            <a:ext cx="114574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>
                <a:solidFill>
                  <a:srgbClr val="94A3B8"/>
                </a:solidFill>
                <a:latin typeface="Arial"/>
              </a:rPr>
              <a:t>Projetenne · Confidentiel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Synthèse du Portefeuille</a:t>
            </a:r>
          </a:p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AACCFF"/>
                </a:solidFill>
                <a:latin typeface="Arial"/>
              </a:rPr>
              <a:t>3 projets sélectionnés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143000"/>
          <a:ext cx="11823191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3749039"/>
                <a:gridCol w="1645920"/>
                <a:gridCol w="1188720"/>
                <a:gridCol w="1188720"/>
                <a:gridCol w="1005840"/>
                <a:gridCol w="1280160"/>
                <a:gridCol w="1216152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RAG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Projet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Responsable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Budget (K€)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EAC (K€)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Écart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Statut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Fin forecast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59E0B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54864" marR="36576" marT="18288">
                    <a:solidFill>
                      <a:srgbClr val="FFF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Projet Phoenix — Transformation Digitale Groupe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DG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4 200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E293B"/>
                          </a:solidFill>
                          <a:latin typeface="Arial"/>
                        </a:rPr>
                        <a:t>4 550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EF4444"/>
                          </a:solidFill>
                          <a:latin typeface="Arial"/>
                        </a:rPr>
                        <a:t>+350 K€</a:t>
                      </a:r>
                    </a:p>
                  </a:txBody>
                  <a:tcPr marL="54864" marR="36576" marT="18288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Actif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28/02/2026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0B981"/>
                          </a:solidFill>
                          <a:latin typeface="Arial"/>
                        </a:rPr>
                        <a:t>Vert</a:t>
                      </a:r>
                    </a:p>
                  </a:txBody>
                  <a:tcPr marL="54864" marR="36576" marT="18288">
                    <a:solidFill>
                      <a:srgbClr val="F0FD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Modernisation SI Finance &amp; Contrôle de Gestion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CFO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1 800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E293B"/>
                          </a:solidFill>
                          <a:latin typeface="Arial"/>
                        </a:rPr>
                        <a:t>1 850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EF4444"/>
                          </a:solidFill>
                          <a:latin typeface="Arial"/>
                        </a:rPr>
                        <a:t>+50 K€</a:t>
                      </a:r>
                    </a:p>
                  </a:txBody>
                  <a:tcPr marL="54864" marR="36576" marT="18288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Actif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31/07/2025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EF4444"/>
                          </a:solidFill>
                          <a:latin typeface="Arial"/>
                        </a:rPr>
                        <a:t>Rouge</a:t>
                      </a:r>
                    </a:p>
                  </a:txBody>
                  <a:tcPr marL="54864" marR="36576" marT="18288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Déploiement ERP SAP S/4HANA — Core Model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DSI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5 000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E293B"/>
                          </a:solidFill>
                          <a:latin typeface="Arial"/>
                        </a:rPr>
                        <a:t>6 300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EF4444"/>
                          </a:solidFill>
                          <a:latin typeface="Arial"/>
                        </a:rPr>
                        <a:t>+1 300 K€</a:t>
                      </a:r>
                    </a:p>
                  </a:txBody>
                  <a:tcPr marL="54864" marR="36576" marT="18288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Actif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31/03/2026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583680"/>
            <a:ext cx="114574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>
                <a:solidFill>
                  <a:srgbClr val="94A3B8"/>
                </a:solidFill>
                <a:latin typeface="Arial"/>
              </a:rPr>
              <a:t>COPIL Mensuel Avril 2025  ·  24/04/2025  ·  Projetenne Confidentiel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Cartographie des Risques P × I</a:t>
            </a:r>
          </a:p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AACCFF"/>
                </a:solidFill>
                <a:latin typeface="Arial"/>
              </a:rPr>
              <a:t>15 risques au total  ·  Élevés : 4  ·  Modérés : 5  ·  Faibles : 6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6126480" cy="579230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675120" y="1280160"/>
            <a:ext cx="5212080" cy="685800"/>
          </a:xfrm>
          <a:prstGeom prst="rect">
            <a:avLst/>
          </a:prstGeom>
          <a:solidFill>
            <a:srgbClr val="FEF2F2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12280" y="135331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800" b="0" i="0">
                <a:solidFill>
                  <a:srgbClr val="1E293B"/>
                </a:solidFill>
                <a:latin typeface="Arial"/>
              </a:rPr>
              <a:t>Risques ÉLEVÉS (P×I ≥ 16)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371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>
                <a:solidFill>
                  <a:srgbClr val="EF4444"/>
                </a:solidFill>
                <a:latin typeface="Arial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2057400"/>
            <a:ext cx="5212080" cy="685800"/>
          </a:xfrm>
          <a:prstGeom prst="rect">
            <a:avLst/>
          </a:prstGeom>
          <a:solidFill>
            <a:srgbClr val="FFF7ED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213055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800" b="0" i="0">
                <a:solidFill>
                  <a:srgbClr val="1E293B"/>
                </a:solidFill>
                <a:latin typeface="Arial"/>
              </a:rPr>
              <a:t>Risques MODÉRÉS (P×I 7–15)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21488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>
                <a:solidFill>
                  <a:srgbClr val="F59E0B"/>
                </a:solidFill>
                <a:latin typeface="Arial"/>
              </a:rPr>
              <a:t>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2834640"/>
            <a:ext cx="5212080" cy="685800"/>
          </a:xfrm>
          <a:prstGeom prst="rect">
            <a:avLst/>
          </a:prstGeom>
          <a:solidFill>
            <a:srgbClr val="F0FDF4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290779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800" b="0" i="0">
                <a:solidFill>
                  <a:srgbClr val="1E293B"/>
                </a:solidFill>
                <a:latin typeface="Arial"/>
              </a:rPr>
              <a:t>Risques FAIBLES (P×I ≤ 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29260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>
                <a:solidFill>
                  <a:srgbClr val="10B981"/>
                </a:solidFill>
                <a:latin typeface="Arial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749040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00" b="1" i="0">
                <a:solidFill>
                  <a:srgbClr val="64748B"/>
                </a:solidFill>
                <a:latin typeface="Arial"/>
              </a:rPr>
              <a:t>TOP 5 RISQUES CRITIQUES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4005072"/>
            <a:ext cx="5212080" cy="402336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48272" y="4114800"/>
            <a:ext cx="182880" cy="182880"/>
          </a:xfrm>
          <a:prstGeom prst="rect">
            <a:avLst/>
          </a:prstGeom>
          <a:solidFill>
            <a:srgbClr val="EF444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22592" y="40690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1E293B"/>
                </a:solidFill>
                <a:latin typeface="Arial"/>
              </a:rPr>
              <a:t>[20] Corruption données migration batch FICO — 5 m…</a:t>
            </a:r>
          </a:p>
          <a:p>
            <a:r>
              <a:rPr sz="650">
                <a:solidFill>
                  <a:srgbClr val="64748B"/>
                </a:solidFill>
                <a:latin typeface="Arial"/>
              </a:rPr>
              <a:t>Déploiement ERP SAP 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4434840"/>
            <a:ext cx="5212080" cy="402336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748272" y="4544568"/>
            <a:ext cx="182880" cy="182880"/>
          </a:xfrm>
          <a:prstGeom prst="rect">
            <a:avLst/>
          </a:prstGeom>
          <a:solidFill>
            <a:srgbClr val="EF444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22592" y="449884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1E293B"/>
                </a:solidFill>
                <a:latin typeface="Arial"/>
              </a:rPr>
              <a:t>[20] Retard Go-Live de 6 mois — blueprint non vali…</a:t>
            </a:r>
          </a:p>
          <a:p>
            <a:r>
              <a:rPr sz="650">
                <a:solidFill>
                  <a:srgbClr val="64748B"/>
                </a:solidFill>
                <a:latin typeface="Arial"/>
              </a:rPr>
              <a:t>Déploiement ERP SAP 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4864608"/>
            <a:ext cx="5212080" cy="402336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48272" y="4974336"/>
            <a:ext cx="182880" cy="182880"/>
          </a:xfrm>
          <a:prstGeom prst="rect">
            <a:avLst/>
          </a:prstGeom>
          <a:solidFill>
            <a:srgbClr val="EF444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22592" y="492861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1E293B"/>
                </a:solidFill>
                <a:latin typeface="Arial"/>
              </a:rPr>
              <a:t>[16] Architecture legacy incompatible avec nouveau…</a:t>
            </a:r>
          </a:p>
          <a:p>
            <a:r>
              <a:rPr sz="650">
                <a:solidFill>
                  <a:srgbClr val="64748B"/>
                </a:solidFill>
                <a:latin typeface="Arial"/>
              </a:rPr>
              <a:t>Projet Phoenix — Tra…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5294376"/>
            <a:ext cx="5212080" cy="402336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48272" y="5404104"/>
            <a:ext cx="182880" cy="182880"/>
          </a:xfrm>
          <a:prstGeom prst="rect">
            <a:avLst/>
          </a:prstGeom>
          <a:solidFill>
            <a:srgbClr val="EF444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22592" y="535838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1E293B"/>
                </a:solidFill>
                <a:latin typeface="Arial"/>
              </a:rPr>
              <a:t>[16] Dépassement budget intégrateur Capgemini &gt; 40…</a:t>
            </a:r>
          </a:p>
          <a:p>
            <a:r>
              <a:rPr sz="650">
                <a:solidFill>
                  <a:srgbClr val="64748B"/>
                </a:solidFill>
                <a:latin typeface="Arial"/>
              </a:rPr>
              <a:t>Déploiement ERP SAP 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5724144"/>
            <a:ext cx="5212080" cy="402336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48272" y="5833872"/>
            <a:ext cx="182880" cy="182880"/>
          </a:xfrm>
          <a:prstGeom prst="rect">
            <a:avLst/>
          </a:prstGeom>
          <a:solidFill>
            <a:srgbClr val="F59E0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22592" y="57881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1E293B"/>
                </a:solidFill>
                <a:latin typeface="Arial"/>
              </a:rPr>
              <a:t>[12] Dépassement budget phase 2 — module reporting…</a:t>
            </a:r>
          </a:p>
          <a:p>
            <a:r>
              <a:rPr sz="650">
                <a:solidFill>
                  <a:srgbClr val="64748B"/>
                </a:solidFill>
                <a:latin typeface="Arial"/>
              </a:rPr>
              <a:t>Projet Phoenix — Tra…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583680"/>
            <a:ext cx="114574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>
                <a:solidFill>
                  <a:srgbClr val="94A3B8"/>
                </a:solidFill>
                <a:latin typeface="Arial"/>
              </a:rPr>
              <a:t>COPIL Mensuel Avril 2025  ·  24/04/2025  ·  Projetenne Confidentiel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Top Risques Critiques</a:t>
            </a:r>
          </a:p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AACCFF"/>
                </a:solidFill>
                <a:latin typeface="Arial"/>
              </a:rPr>
              <a:t>Projets sélectionnés — 10 risques présentés par criticité décroissante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143000"/>
          <a:ext cx="11823192" cy="4626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457200"/>
                <a:gridCol w="3931920"/>
                <a:gridCol w="1005840"/>
                <a:gridCol w="2743200"/>
                <a:gridCol w="777240"/>
                <a:gridCol w="914400"/>
                <a:gridCol w="1673352"/>
              </a:tblGrid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Crit.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Risque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Catégorie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Projet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Statut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Échéance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Propriétaire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EF4444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54864" marR="36576" marT="18288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Corruption données migration batch FICO — 5 millions de lignes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technique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Déploiement ERP SAP S/4HANA — Core Model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identifié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31/08/2025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Sophie Martin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EF4444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54864" marR="36576" marT="18288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Retard Go-Live de 6 mois — blueprint non validé par COMEX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planning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Déploiement ERP SAP S/4HANA — Core Model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traité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31/12/2025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Thomas Dubois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EF4444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54864" marR="36576" marT="18288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Architecture legacy incompatible avec nouveaux modules SI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technique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Projet Phoenix — Transformation Digitale G…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identifié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31/07/2025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Sophie Martin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EF4444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54864" marR="36576" marT="18288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Dépassement budget intégrateur Capgemini &gt; 40%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budget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Déploiement ERP SAP S/4HANA — Core Model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identifié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30/06/2025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Thomas Dubois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59E0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64" marR="36576" marT="18288">
                    <a:solidFill>
                      <a:srgbClr val="FFF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Dépassement budget phase 2 — module reporting exécutif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budget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Projet Phoenix — Transformation Digitale G…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traité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30/09/2025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Thomas Dubois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59E0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64" marR="36576" marT="18288">
                    <a:solidFill>
                      <a:srgbClr val="FFF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Pénurie consultants SAP FICO certifiés S/4HANA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ressource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Déploiement ERP SAP S/4HANA — Core Model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identifié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30/09/2025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Sophie Martin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59E0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4864" marR="36576" marT="18288">
                    <a:solidFill>
                      <a:srgbClr val="FFF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Retard PI Planning Q3 — dépendances inter-équipes non résolues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planning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Projet Phoenix — Transformation Digitale G…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identifié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15/08/2025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Sophie Martin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59E0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4864" marR="36576" marT="18288">
                    <a:solidFill>
                      <a:srgbClr val="FFF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Retard recette fonctionnelle FICO/SD — refus MOA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planning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Modernisation SI Finance &amp; Contrôle de Ges…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traité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15/06/2025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Thomas Dubois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59E0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54864" marR="36576" marT="18288">
                    <a:solidFill>
                      <a:srgbClr val="FFF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Non-conformité RGPD lors migration données RH vers S/4HANA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conformité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Déploiement ERP SAP S/4HANA — Core Model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traité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31/07/2025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Sophie Martin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0B981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4864" marR="36576" marT="18288">
                    <a:solidFill>
                      <a:srgbClr val="F0FD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Départ Scrum Master clé en cours de PI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ressource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Projet Phoenix — Transformation Digitale G…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accepté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30/06/2025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Thomas Dubois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583680"/>
            <a:ext cx="114574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>
                <a:solidFill>
                  <a:srgbClr val="94A3B8"/>
                </a:solidFill>
                <a:latin typeface="Arial"/>
              </a:rPr>
              <a:t>COPIL Mensuel Avril 2025  ·  24/04/2025  ·  Projetenne Confidentiel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Décisions Clés</a:t>
            </a:r>
          </a:p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AACCFF"/>
                </a:solidFill>
                <a:latin typeface="Arial"/>
              </a:rPr>
              <a:t>10 décisions  ·  10 dernières décisions du périmètre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143000"/>
          <a:ext cx="11823192" cy="4626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4572000"/>
                <a:gridCol w="1097280"/>
                <a:gridCol w="914400"/>
                <a:gridCol w="2743200"/>
                <a:gridCol w="1627632"/>
              </a:tblGrid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Décision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Catégorie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Statut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Projet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Responsable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20/04/2025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Extension périmètre — Intégration legacy ERP SAP dans Wave 2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périmètre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E293B"/>
                          </a:solidFill>
                          <a:latin typeface="Arial"/>
                        </a:rPr>
                        <a:t>En cours</a:t>
                      </a:r>
                    </a:p>
                  </a:txBody>
                  <a:tcPr marL="54864" marR="36576" marT="18288"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Projet Phoenix — Transformation Digitale G…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Thomas Dubois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15/04/2025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Go / No-Go — Lancement Wave 2 (Modules Finance &amp; RH)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stratégique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E293B"/>
                          </a:solidFill>
                          <a:latin typeface="Arial"/>
                        </a:rPr>
                        <a:t>Prise</a:t>
                      </a:r>
                    </a:p>
                  </a:txBody>
                  <a:tcPr marL="54864" marR="36576" marT="18288">
                    <a:solidFill>
                      <a:srgbClr val="EDE9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Projet Phoenix — Transformation Digitale G…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Sophie Martin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15/04/2025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Validation go-live Phase 2 — Module Controlling &amp; Trésorerie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planning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E293B"/>
                          </a:solidFill>
                          <a:latin typeface="Arial"/>
                        </a:rPr>
                        <a:t>Prise</a:t>
                      </a:r>
                    </a:p>
                  </a:txBody>
                  <a:tcPr marL="54864" marR="36576" marT="18288">
                    <a:solidFill>
                      <a:srgbClr val="EDE9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Modernisation SI Finance &amp; Contrôle de Ges…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Sophie Martin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10/04/2025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Remplacement intégrateur — Appel d'offres lancé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ressources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E293B"/>
                          </a:solidFill>
                          <a:latin typeface="Arial"/>
                        </a:rPr>
                        <a:t>En cours</a:t>
                      </a:r>
                    </a:p>
                  </a:txBody>
                  <a:tcPr marL="54864" marR="36576" marT="18288"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Déploiement ERP SAP S/4HANA — Core Model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Thomas Dubois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07/04/2025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Révision budget — Augmentation enveloppe de 26% validée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budgétaire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E293B"/>
                          </a:solidFill>
                          <a:latin typeface="Arial"/>
                        </a:rPr>
                        <a:t>Prise</a:t>
                      </a:r>
                    </a:p>
                  </a:txBody>
                  <a:tcPr marL="54864" marR="36576" marT="18288">
                    <a:solidFill>
                      <a:srgbClr val="EDE9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Déploiement ERP SAP S/4HANA — Core Model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Sophie Martin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07/04/2025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Report Go-Live — Décalage de 6 mois décidé en Steering Committee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planning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E293B"/>
                          </a:solidFill>
                          <a:latin typeface="Arial"/>
                        </a:rPr>
                        <a:t>Appliquée</a:t>
                      </a:r>
                    </a:p>
                  </a:txBody>
                  <a:tcPr marL="54864" marR="36576" marT="18288">
                    <a:solidFill>
                      <a:srgbClr val="DCFC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Déploiement ERP SAP S/4HANA — Core Model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Sophie Martin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20/03/2025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Conformité DSP2 — Audit tiers validé avant chaque go-live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conformité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E293B"/>
                          </a:solidFill>
                          <a:latin typeface="Arial"/>
                        </a:rPr>
                        <a:t>En cours</a:t>
                      </a:r>
                    </a:p>
                  </a:txBody>
                  <a:tcPr marL="54864" marR="36576" marT="18288"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Modernisation SI Finance &amp; Contrôle de Ges…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Sophie Martin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20/03/2025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Réduction périmètre Wave 1 — Module SD reporté en Wave 2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périmètre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E293B"/>
                          </a:solidFill>
                          <a:latin typeface="Arial"/>
                        </a:rPr>
                        <a:t>Appliquée</a:t>
                      </a:r>
                    </a:p>
                  </a:txBody>
                  <a:tcPr marL="54864" marR="36576" marT="18288">
                    <a:solidFill>
                      <a:srgbClr val="DCFC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Déploiement ERP SAP S/4HANA — Core Model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Sophie Martin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01/03/2025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Arbitrage scope — Retrait module Reporting Exécutif de Wave 1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périmètre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E293B"/>
                          </a:solidFill>
                          <a:latin typeface="Arial"/>
                        </a:rPr>
                        <a:t>Appliquée</a:t>
                      </a:r>
                    </a:p>
                  </a:txBody>
                  <a:tcPr marL="54864" marR="36576" marT="18288">
                    <a:solidFill>
                      <a:srgbClr val="DCFC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Projet Phoenix — Transformation Digitale G…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Sophie Martin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15/02/2025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Réduction périmètre — Retrait flux SWIFT Phase 1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périmètre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E293B"/>
                          </a:solidFill>
                          <a:latin typeface="Arial"/>
                        </a:rPr>
                        <a:t>Appliquée</a:t>
                      </a:r>
                    </a:p>
                  </a:txBody>
                  <a:tcPr marL="54864" marR="36576" marT="18288">
                    <a:solidFill>
                      <a:srgbClr val="DCFC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Modernisation SI Finance &amp; Contrôle de Ges…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Thomas Dubois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583680"/>
            <a:ext cx="114574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>
                <a:solidFill>
                  <a:srgbClr val="94A3B8"/>
                </a:solidFill>
                <a:latin typeface="Arial"/>
              </a:rPr>
              <a:t>COPIL Mensuel Avril 2025  ·  24/04/2025  ·  Projetenne Confidentiel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B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97280"/>
          </a:xfrm>
          <a:prstGeom prst="rect">
            <a:avLst/>
          </a:prstGeom>
          <a:solidFill>
            <a:srgbClr val="F59E0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91440"/>
            <a:ext cx="8531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rial"/>
              </a:rPr>
              <a:t>Projet Phoenix — Transformation Digitale Groupe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71323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4A3B8"/>
                </a:solidFill>
                <a:latin typeface="Arial"/>
              </a:rPr>
              <a:t>PRJ-2025-001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713232"/>
            <a:ext cx="8165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F59E0B"/>
                </a:solidFill>
                <a:latin typeface="Arial"/>
              </a:rPr>
              <a:t>DG  ·  SAFE  ·  Actif  ·  RAG ORANGE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170432"/>
            <a:ext cx="5806440" cy="237744"/>
          </a:xfrm>
          <a:prstGeom prst="rect">
            <a:avLst/>
          </a:prstGeom>
          <a:solidFill>
            <a:srgbClr val="EBF2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0052CC"/>
                </a:solidFill>
                <a:latin typeface="Arial"/>
              </a:rPr>
              <a:t>BUDGET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2880" y="1408176"/>
          <a:ext cx="5806440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2898"/>
                <a:gridCol w="3193542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CAPEX prévu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Arial"/>
                        </a:rPr>
                        <a:t>1 260 K€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CAPEX consommé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E293B"/>
                          </a:solidFill>
                          <a:latin typeface="Arial"/>
                        </a:rPr>
                        <a:t>693 K€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OPEX prévu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Arial"/>
                        </a:rPr>
                        <a:t>2 940 K€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OPEX consommé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E293B"/>
                          </a:solidFill>
                          <a:latin typeface="Arial"/>
                        </a:rPr>
                        <a:t>1 617 K€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Budget total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E293B"/>
                          </a:solidFill>
                          <a:latin typeface="Arial"/>
                        </a:rPr>
                        <a:t>4 200 K€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EAC (Estimate At Completion)</a:t>
                      </a:r>
                    </a:p>
                  </a:txBody>
                  <a:tcPr marL="73152" marT="36576">
                    <a:solidFill>
                      <a:srgbClr val="EB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EF4444"/>
                          </a:solidFill>
                          <a:latin typeface="Arial"/>
                        </a:rPr>
                        <a:t>4 550 K€</a:t>
                      </a:r>
                    </a:p>
                  </a:txBody>
                  <a:tcPr marL="73152" marT="36576">
                    <a:solidFill>
                      <a:srgbClr val="EBF2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Écart EAC / Budget</a:t>
                      </a:r>
                    </a:p>
                  </a:txBody>
                  <a:tcPr marL="73152" marT="36576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EF4444"/>
                          </a:solidFill>
                          <a:latin typeface="Arial"/>
                        </a:rPr>
                        <a:t>+350 K€  (+8.3%)</a:t>
                      </a:r>
                    </a:p>
                  </a:txBody>
                  <a:tcPr marL="73152" marT="36576"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182880" y="3575304"/>
            <a:ext cx="5806440" cy="118872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" y="3575304"/>
            <a:ext cx="3193542" cy="118872"/>
          </a:xfrm>
          <a:prstGeom prst="rect">
            <a:avLst/>
          </a:prstGeom>
          <a:solidFill>
            <a:srgbClr val="0052C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" y="3712464"/>
            <a:ext cx="5806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rgbClr val="64748B"/>
                </a:solidFill>
                <a:latin typeface="Arial"/>
              </a:rPr>
              <a:t>Avancement budgétaire : 55%  (2 310 K€ / 4 200 K€)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170432"/>
            <a:ext cx="5806440" cy="237744"/>
          </a:xfrm>
          <a:prstGeom prst="rect">
            <a:avLst/>
          </a:prstGeom>
          <a:solidFill>
            <a:srgbClr val="EBF2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207008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0052CC"/>
                </a:solidFill>
                <a:latin typeface="Arial"/>
              </a:rPr>
              <a:t>PLANNING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199632" y="1408176"/>
          <a:ext cx="58064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7091"/>
                <a:gridCol w="3019349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Début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15/01/2025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Fin baseline (initiale)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31/12/2025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Fin forecast (actuelle)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EF4444"/>
                          </a:solidFill>
                          <a:latin typeface="Arial"/>
                        </a:rPr>
                        <a:t>28/02/2026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Délai vs baseline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EF4444"/>
                          </a:solidFill>
                          <a:latin typeface="Arial"/>
                        </a:rPr>
                        <a:t>+59 jours (retard)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Avancement JH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Arial"/>
                        </a:rPr>
                        <a:t>4 200 / 8 400 JH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182880" y="3776472"/>
            <a:ext cx="5806440" cy="237744"/>
          </a:xfrm>
          <a:prstGeom prst="rect">
            <a:avLst/>
          </a:prstGeom>
          <a:solidFill>
            <a:srgbClr val="EBF2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3813048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0052CC"/>
                </a:solidFill>
                <a:latin typeface="Arial"/>
              </a:rPr>
              <a:t>JALONS CLÉS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4014216"/>
            <a:ext cx="5806440" cy="347472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4078224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64748B"/>
                </a:solidFill>
                <a:latin typeface="Arial"/>
              </a:rPr>
              <a:t>01/12/2025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078224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Déploiement national Phase 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4379976"/>
            <a:ext cx="5806440" cy="347472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4443984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64748B"/>
                </a:solidFill>
                <a:latin typeface="Arial"/>
              </a:rPr>
              <a:t>31/08/2025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443984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Livraison MVP Core Digitale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4745736"/>
            <a:ext cx="5806440" cy="347472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4809744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64748B"/>
                </a:solidFill>
                <a:latin typeface="Arial"/>
              </a:rPr>
              <a:t>22/03/2025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809744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PI Planning #1 — PI2025-Q1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99632" y="3776472"/>
            <a:ext cx="5806440" cy="237744"/>
          </a:xfrm>
          <a:prstGeom prst="rect">
            <a:avLst/>
          </a:prstGeom>
          <a:solidFill>
            <a:srgbClr val="EBF2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813048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0052CC"/>
                </a:solidFill>
                <a:latin typeface="Arial"/>
              </a:rPr>
              <a:t>RISQUES (TOP 3)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9632" y="4014216"/>
            <a:ext cx="5806440" cy="384048"/>
          </a:xfrm>
          <a:prstGeom prst="rect">
            <a:avLst/>
          </a:prstGeom>
          <a:solidFill>
            <a:srgbClr val="FEF2F2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91072" y="4133088"/>
            <a:ext cx="164592" cy="164592"/>
          </a:xfrm>
          <a:prstGeom prst="rect">
            <a:avLst/>
          </a:prstGeom>
          <a:solidFill>
            <a:srgbClr val="EF444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47104" y="406908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[16] Architecture legacy incompatible avec nouveaux modul…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99632" y="4416552"/>
            <a:ext cx="5806440" cy="384048"/>
          </a:xfrm>
          <a:prstGeom prst="rect">
            <a:avLst/>
          </a:prstGeom>
          <a:solidFill>
            <a:srgbClr val="FFF7ED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91072" y="4535424"/>
            <a:ext cx="164592" cy="164592"/>
          </a:xfrm>
          <a:prstGeom prst="rect">
            <a:avLst/>
          </a:prstGeom>
          <a:solidFill>
            <a:srgbClr val="F59E0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47104" y="4471416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[12] Dépassement budget phase 2 — module reporting exécut…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9632" y="4818888"/>
            <a:ext cx="5806440" cy="384048"/>
          </a:xfrm>
          <a:prstGeom prst="rect">
            <a:avLst/>
          </a:prstGeom>
          <a:solidFill>
            <a:srgbClr val="FFF7ED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91072" y="4937760"/>
            <a:ext cx="164592" cy="164592"/>
          </a:xfrm>
          <a:prstGeom prst="rect">
            <a:avLst/>
          </a:prstGeom>
          <a:solidFill>
            <a:srgbClr val="F59E0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47104" y="4873752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[9] Retard PI Planning Q3 — dépendances inter-équipes no…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9632" y="5312664"/>
            <a:ext cx="5806440" cy="237744"/>
          </a:xfrm>
          <a:prstGeom prst="rect">
            <a:avLst/>
          </a:prstGeom>
          <a:solidFill>
            <a:srgbClr val="EBF2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5349240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0052CC"/>
                </a:solidFill>
                <a:latin typeface="Arial"/>
              </a:rPr>
              <a:t>DÉCISIONS (3 RÉCENTES)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9632" y="5550408"/>
            <a:ext cx="5806440" cy="384048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91072" y="5605272"/>
            <a:ext cx="4251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Extension périmètre — Intégration legacy ERP S…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43032" y="5605272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>
                <a:solidFill>
                  <a:srgbClr val="64748B"/>
                </a:solidFill>
                <a:latin typeface="Arial"/>
              </a:rPr>
              <a:t>20/04/2025  ·  En cou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9632" y="5952744"/>
            <a:ext cx="5806440" cy="384048"/>
          </a:xfrm>
          <a:prstGeom prst="rect">
            <a:avLst/>
          </a:prstGeom>
          <a:solidFill>
            <a:srgbClr val="EDE9FE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1072" y="6007608"/>
            <a:ext cx="4251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Go / No-Go — Lancement Wave 2 (Modules Finance…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43032" y="600760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>
                <a:solidFill>
                  <a:srgbClr val="64748B"/>
                </a:solidFill>
                <a:latin typeface="Arial"/>
              </a:rPr>
              <a:t>15/04/2025  ·  Prise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99632" y="6355080"/>
            <a:ext cx="5806440" cy="384048"/>
          </a:xfrm>
          <a:prstGeom prst="rect">
            <a:avLst/>
          </a:prstGeom>
          <a:solidFill>
            <a:srgbClr val="DCFCE7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91072" y="6409944"/>
            <a:ext cx="4251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Arbitrage scope — Retrait module Reporting Exé…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43032" y="6409944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>
                <a:solidFill>
                  <a:srgbClr val="64748B"/>
                </a:solidFill>
                <a:latin typeface="Arial"/>
              </a:rPr>
              <a:t>01/03/2025  ·  Appliq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583680"/>
            <a:ext cx="114574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>
                <a:solidFill>
                  <a:srgbClr val="94A3B8"/>
                </a:solidFill>
                <a:latin typeface="Arial"/>
              </a:rPr>
              <a:t>COPIL Mensuel Avril 2025  ·  24/04/2025  ·  Projetenne Confidentiel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B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97280"/>
          </a:xfrm>
          <a:prstGeom prst="rect">
            <a:avLst/>
          </a:prstGeom>
          <a:solidFill>
            <a:srgbClr val="10B98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91440"/>
            <a:ext cx="8531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rial"/>
              </a:rPr>
              <a:t>Modernisation SI Finance &amp; Contrôle de 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71323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4A3B8"/>
                </a:solidFill>
                <a:latin typeface="Arial"/>
              </a:rPr>
              <a:t>PRJ-2024-008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713232"/>
            <a:ext cx="8165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10B981"/>
                </a:solidFill>
                <a:latin typeface="Arial"/>
              </a:rPr>
              <a:t>CFO  ·  WATERFALL  ·  Actif  ·  RAG VERT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170432"/>
            <a:ext cx="5806440" cy="237744"/>
          </a:xfrm>
          <a:prstGeom prst="rect">
            <a:avLst/>
          </a:prstGeom>
          <a:solidFill>
            <a:srgbClr val="EBF2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0052CC"/>
                </a:solidFill>
                <a:latin typeface="Arial"/>
              </a:rPr>
              <a:t>BUDGET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2880" y="1408176"/>
          <a:ext cx="5806440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2898"/>
                <a:gridCol w="3193542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CAPEX prévu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Arial"/>
                        </a:rPr>
                        <a:t>360 K€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CAPEX consommé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E293B"/>
                          </a:solidFill>
                          <a:latin typeface="Arial"/>
                        </a:rPr>
                        <a:t>252 K€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OPEX prévu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Arial"/>
                        </a:rPr>
                        <a:t>1 440 K€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OPEX consommé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E293B"/>
                          </a:solidFill>
                          <a:latin typeface="Arial"/>
                        </a:rPr>
                        <a:t>1 008 K€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Budget total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E293B"/>
                          </a:solidFill>
                          <a:latin typeface="Arial"/>
                        </a:rPr>
                        <a:t>1 800 K€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EAC (Estimate At Completion)</a:t>
                      </a:r>
                    </a:p>
                  </a:txBody>
                  <a:tcPr marL="73152" marT="36576">
                    <a:solidFill>
                      <a:srgbClr val="EB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EF4444"/>
                          </a:solidFill>
                          <a:latin typeface="Arial"/>
                        </a:rPr>
                        <a:t>1 850 K€</a:t>
                      </a:r>
                    </a:p>
                  </a:txBody>
                  <a:tcPr marL="73152" marT="36576">
                    <a:solidFill>
                      <a:srgbClr val="EBF2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Écart EAC / Budget</a:t>
                      </a:r>
                    </a:p>
                  </a:txBody>
                  <a:tcPr marL="73152" marT="36576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EF4444"/>
                          </a:solidFill>
                          <a:latin typeface="Arial"/>
                        </a:rPr>
                        <a:t>+50 K€  (+2.8%)</a:t>
                      </a:r>
                    </a:p>
                  </a:txBody>
                  <a:tcPr marL="73152" marT="36576"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182880" y="3575304"/>
            <a:ext cx="5806440" cy="118872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" y="3575304"/>
            <a:ext cx="4064508" cy="118872"/>
          </a:xfrm>
          <a:prstGeom prst="rect">
            <a:avLst/>
          </a:prstGeom>
          <a:solidFill>
            <a:srgbClr val="0052C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" y="3712464"/>
            <a:ext cx="5806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rgbClr val="64748B"/>
                </a:solidFill>
                <a:latin typeface="Arial"/>
              </a:rPr>
              <a:t>Avancement budgétaire : 70%  (1 260 K€ / 1 800 K€)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170432"/>
            <a:ext cx="5806440" cy="237744"/>
          </a:xfrm>
          <a:prstGeom prst="rect">
            <a:avLst/>
          </a:prstGeom>
          <a:solidFill>
            <a:srgbClr val="EBF2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207008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0052CC"/>
                </a:solidFill>
                <a:latin typeface="Arial"/>
              </a:rPr>
              <a:t>PLANNING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199632" y="1408176"/>
          <a:ext cx="58064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7091"/>
                <a:gridCol w="3019349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Début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01/09/2024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Fin baseline (initiale)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30/06/2025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Fin forecast (actuelle)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EF4444"/>
                          </a:solidFill>
                          <a:latin typeface="Arial"/>
                        </a:rPr>
                        <a:t>31/07/2025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Délai vs baseline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EF4444"/>
                          </a:solidFill>
                          <a:latin typeface="Arial"/>
                        </a:rPr>
                        <a:t>+31 jours (retard)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Avancement JH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Arial"/>
                        </a:rPr>
                        <a:t>2 520 / 3 600 JH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182880" y="3776472"/>
            <a:ext cx="5806440" cy="237744"/>
          </a:xfrm>
          <a:prstGeom prst="rect">
            <a:avLst/>
          </a:prstGeom>
          <a:solidFill>
            <a:srgbClr val="EBF2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3813048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0052CC"/>
                </a:solidFill>
                <a:latin typeface="Arial"/>
              </a:rPr>
              <a:t>JALONS CLÉS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4014216"/>
            <a:ext cx="5806440" cy="347472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4078224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64748B"/>
                </a:solidFill>
                <a:latin typeface="Arial"/>
              </a:rPr>
              <a:t>31/07/2025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078224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Go-Live SI Finance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4379976"/>
            <a:ext cx="5806440" cy="347472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4443984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64748B"/>
                </a:solidFill>
                <a:latin typeface="Arial"/>
              </a:rPr>
              <a:t>31/05/2025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443984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Migration données historiques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4745736"/>
            <a:ext cx="5806440" cy="347472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4809744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64748B"/>
                </a:solidFill>
                <a:latin typeface="Arial"/>
              </a:rPr>
              <a:t>30/04/2025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809744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Recette fonctionnelle SI Finance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99632" y="3776472"/>
            <a:ext cx="5806440" cy="237744"/>
          </a:xfrm>
          <a:prstGeom prst="rect">
            <a:avLst/>
          </a:prstGeom>
          <a:solidFill>
            <a:srgbClr val="EBF2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813048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0052CC"/>
                </a:solidFill>
                <a:latin typeface="Arial"/>
              </a:rPr>
              <a:t>RISQUES (TOP 3)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9632" y="4014216"/>
            <a:ext cx="5806440" cy="384048"/>
          </a:xfrm>
          <a:prstGeom prst="rect">
            <a:avLst/>
          </a:prstGeom>
          <a:solidFill>
            <a:srgbClr val="FFF7ED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91072" y="4133088"/>
            <a:ext cx="164592" cy="164592"/>
          </a:xfrm>
          <a:prstGeom prst="rect">
            <a:avLst/>
          </a:prstGeom>
          <a:solidFill>
            <a:srgbClr val="F59E0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47104" y="406908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[9] Retard recette fonctionnelle FICO/SD — refus MOA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99632" y="4416552"/>
            <a:ext cx="5806440" cy="384048"/>
          </a:xfrm>
          <a:prstGeom prst="rect">
            <a:avLst/>
          </a:prstGeom>
          <a:solidFill>
            <a:srgbClr val="F0FDF4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91072" y="4535424"/>
            <a:ext cx="164592" cy="164592"/>
          </a:xfrm>
          <a:prstGeom prst="rect">
            <a:avLst/>
          </a:prstGeom>
          <a:solidFill>
            <a:srgbClr val="10B98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47104" y="4471416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[6] Incompatibilité modules comptabilité analytique avec…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9632" y="4818888"/>
            <a:ext cx="5806440" cy="384048"/>
          </a:xfrm>
          <a:prstGeom prst="rect">
            <a:avLst/>
          </a:prstGeom>
          <a:solidFill>
            <a:srgbClr val="F0FDF4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91072" y="4937760"/>
            <a:ext cx="164592" cy="164592"/>
          </a:xfrm>
          <a:prstGeom prst="rect">
            <a:avLst/>
          </a:prstGeom>
          <a:solidFill>
            <a:srgbClr val="10B98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47104" y="4873752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[6] Indisponibilité experts métier Contrôle de Gestion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9632" y="5312664"/>
            <a:ext cx="5806440" cy="237744"/>
          </a:xfrm>
          <a:prstGeom prst="rect">
            <a:avLst/>
          </a:prstGeom>
          <a:solidFill>
            <a:srgbClr val="EBF2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5349240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0052CC"/>
                </a:solidFill>
                <a:latin typeface="Arial"/>
              </a:rPr>
              <a:t>DÉCISIONS (3 RÉCENTES)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9632" y="5550408"/>
            <a:ext cx="5806440" cy="384048"/>
          </a:xfrm>
          <a:prstGeom prst="rect">
            <a:avLst/>
          </a:prstGeom>
          <a:solidFill>
            <a:srgbClr val="EDE9FE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91072" y="5605272"/>
            <a:ext cx="4251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Validation go-live Phase 2 — Module Controllin…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43032" y="5605272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>
                <a:solidFill>
                  <a:srgbClr val="64748B"/>
                </a:solidFill>
                <a:latin typeface="Arial"/>
              </a:rPr>
              <a:t>15/04/2025  ·  Prise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9632" y="5952744"/>
            <a:ext cx="5806440" cy="384048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1072" y="6007608"/>
            <a:ext cx="4251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Conformité DSP2 — Audit tiers validé avant cha…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43032" y="600760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>
                <a:solidFill>
                  <a:srgbClr val="64748B"/>
                </a:solidFill>
                <a:latin typeface="Arial"/>
              </a:rPr>
              <a:t>20/03/2025  ·  En cou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99632" y="6355080"/>
            <a:ext cx="5806440" cy="384048"/>
          </a:xfrm>
          <a:prstGeom prst="rect">
            <a:avLst/>
          </a:prstGeom>
          <a:solidFill>
            <a:srgbClr val="DCFCE7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91072" y="6409944"/>
            <a:ext cx="4251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Réduction périmètre — Retrait flux SWIFT Phase…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43032" y="6409944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>
                <a:solidFill>
                  <a:srgbClr val="64748B"/>
                </a:solidFill>
                <a:latin typeface="Arial"/>
              </a:rPr>
              <a:t>15/02/2025  ·  Appliq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583680"/>
            <a:ext cx="114574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>
                <a:solidFill>
                  <a:srgbClr val="94A3B8"/>
                </a:solidFill>
                <a:latin typeface="Arial"/>
              </a:rPr>
              <a:t>COPIL Mensuel Avril 2025  ·  24/04/2025  ·  Projetenne Confidentiel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B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97280"/>
          </a:xfrm>
          <a:prstGeom prst="rect">
            <a:avLst/>
          </a:prstGeom>
          <a:solidFill>
            <a:srgbClr val="EF444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91440"/>
            <a:ext cx="8531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rial"/>
              </a:rPr>
              <a:t>Déploiement ERP SAP S/4HANA — Core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71323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4A3B8"/>
                </a:solidFill>
                <a:latin typeface="Arial"/>
              </a:rPr>
              <a:t>PRJ-2024-003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713232"/>
            <a:ext cx="8165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EF4444"/>
                </a:solidFill>
                <a:latin typeface="Arial"/>
              </a:rPr>
              <a:t>DSI  ·  WATERFALL  ·  Actif  ·  RAG ROUGE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170432"/>
            <a:ext cx="5806440" cy="237744"/>
          </a:xfrm>
          <a:prstGeom prst="rect">
            <a:avLst/>
          </a:prstGeom>
          <a:solidFill>
            <a:srgbClr val="EBF2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0052CC"/>
                </a:solidFill>
                <a:latin typeface="Arial"/>
              </a:rPr>
              <a:t>BUDGET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2880" y="1408176"/>
          <a:ext cx="5806440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2898"/>
                <a:gridCol w="3193542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CAPEX prévu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Arial"/>
                        </a:rPr>
                        <a:t>2 000 K€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CAPEX consommé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E293B"/>
                          </a:solidFill>
                          <a:latin typeface="Arial"/>
                        </a:rPr>
                        <a:t>1 640 K€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OPEX prévu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Arial"/>
                        </a:rPr>
                        <a:t>3 000 K€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OPEX consommé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E293B"/>
                          </a:solidFill>
                          <a:latin typeface="Arial"/>
                        </a:rPr>
                        <a:t>2 460 K€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Budget total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E293B"/>
                          </a:solidFill>
                          <a:latin typeface="Arial"/>
                        </a:rPr>
                        <a:t>5 000 K€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EAC (Estimate At Completion)</a:t>
                      </a:r>
                    </a:p>
                  </a:txBody>
                  <a:tcPr marL="73152" marT="36576">
                    <a:solidFill>
                      <a:srgbClr val="EB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EF4444"/>
                          </a:solidFill>
                          <a:latin typeface="Arial"/>
                        </a:rPr>
                        <a:t>6 300 K€</a:t>
                      </a:r>
                    </a:p>
                  </a:txBody>
                  <a:tcPr marL="73152" marT="36576">
                    <a:solidFill>
                      <a:srgbClr val="EBF2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Écart EAC / Budget</a:t>
                      </a:r>
                    </a:p>
                  </a:txBody>
                  <a:tcPr marL="73152" marT="36576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EF4444"/>
                          </a:solidFill>
                          <a:latin typeface="Arial"/>
                        </a:rPr>
                        <a:t>+1 300 K€  (+26.0%)</a:t>
                      </a:r>
                    </a:p>
                  </a:txBody>
                  <a:tcPr marL="73152" marT="36576"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182880" y="3575304"/>
            <a:ext cx="5806440" cy="118872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" y="3575304"/>
            <a:ext cx="4761280" cy="118872"/>
          </a:xfrm>
          <a:prstGeom prst="rect">
            <a:avLst/>
          </a:prstGeom>
          <a:solidFill>
            <a:srgbClr val="0052C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" y="3712464"/>
            <a:ext cx="5806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rgbClr val="64748B"/>
                </a:solidFill>
                <a:latin typeface="Arial"/>
              </a:rPr>
              <a:t>Avancement budgétaire : 82%  (4 100 K€ / 5 000 K€)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170432"/>
            <a:ext cx="5806440" cy="237744"/>
          </a:xfrm>
          <a:prstGeom prst="rect">
            <a:avLst/>
          </a:prstGeom>
          <a:solidFill>
            <a:srgbClr val="EBF2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207008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0052CC"/>
                </a:solidFill>
                <a:latin typeface="Arial"/>
              </a:rPr>
              <a:t>PLANNING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199632" y="1408176"/>
          <a:ext cx="58064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7091"/>
                <a:gridCol w="3019349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Début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01/03/2024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Fin baseline (initiale)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30/09/2025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Fin forecast (actuelle)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EF4444"/>
                          </a:solidFill>
                          <a:latin typeface="Arial"/>
                        </a:rPr>
                        <a:t>31/03/2026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Délai vs baseline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EF4444"/>
                          </a:solidFill>
                          <a:latin typeface="Arial"/>
                        </a:rPr>
                        <a:t>+182 jours (retard)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Avancement JH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Arial"/>
                        </a:rPr>
                        <a:t>8 200 / 10 000 JH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182880" y="3776472"/>
            <a:ext cx="5806440" cy="237744"/>
          </a:xfrm>
          <a:prstGeom prst="rect">
            <a:avLst/>
          </a:prstGeom>
          <a:solidFill>
            <a:srgbClr val="EBF2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3813048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0052CC"/>
                </a:solidFill>
                <a:latin typeface="Arial"/>
              </a:rPr>
              <a:t>JALONS CLÉS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4014216"/>
            <a:ext cx="5806440" cy="347472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4078224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64748B"/>
                </a:solidFill>
                <a:latin typeface="Arial"/>
              </a:rPr>
              <a:t>31/03/2026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078224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Go-Live SAP S/4HANA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4379976"/>
            <a:ext cx="5806440" cy="347472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4443984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64748B"/>
                </a:solidFill>
                <a:latin typeface="Arial"/>
              </a:rPr>
              <a:t>31/07/2025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443984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Recette intégration ERP-BI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4745736"/>
            <a:ext cx="5806440" cy="347472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4809744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64748B"/>
                </a:solidFill>
                <a:latin typeface="Arial"/>
              </a:rPr>
              <a:t>15/08/2024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809744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Blueprint validé FICO/SD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99632" y="3776472"/>
            <a:ext cx="5806440" cy="237744"/>
          </a:xfrm>
          <a:prstGeom prst="rect">
            <a:avLst/>
          </a:prstGeom>
          <a:solidFill>
            <a:srgbClr val="EBF2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813048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0052CC"/>
                </a:solidFill>
                <a:latin typeface="Arial"/>
              </a:rPr>
              <a:t>RISQUES (TOP 3)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9632" y="4014216"/>
            <a:ext cx="5806440" cy="384048"/>
          </a:xfrm>
          <a:prstGeom prst="rect">
            <a:avLst/>
          </a:prstGeom>
          <a:solidFill>
            <a:srgbClr val="FEF2F2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91072" y="4133088"/>
            <a:ext cx="164592" cy="164592"/>
          </a:xfrm>
          <a:prstGeom prst="rect">
            <a:avLst/>
          </a:prstGeom>
          <a:solidFill>
            <a:srgbClr val="EF444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47104" y="406908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[20] Corruption données migration batch FICO — 5 millions…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99632" y="4416552"/>
            <a:ext cx="5806440" cy="384048"/>
          </a:xfrm>
          <a:prstGeom prst="rect">
            <a:avLst/>
          </a:prstGeom>
          <a:solidFill>
            <a:srgbClr val="FEF2F2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91072" y="4535424"/>
            <a:ext cx="164592" cy="164592"/>
          </a:xfrm>
          <a:prstGeom prst="rect">
            <a:avLst/>
          </a:prstGeom>
          <a:solidFill>
            <a:srgbClr val="EF444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47104" y="4471416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[20] Retard Go-Live de 6 mois — blueprint non validé par 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9632" y="4818888"/>
            <a:ext cx="5806440" cy="384048"/>
          </a:xfrm>
          <a:prstGeom prst="rect">
            <a:avLst/>
          </a:prstGeom>
          <a:solidFill>
            <a:srgbClr val="FEF2F2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91072" y="4937760"/>
            <a:ext cx="164592" cy="164592"/>
          </a:xfrm>
          <a:prstGeom prst="rect">
            <a:avLst/>
          </a:prstGeom>
          <a:solidFill>
            <a:srgbClr val="EF444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47104" y="4873752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[16] Dépassement budget intégrateur Capgemini &gt; 40%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9632" y="5312664"/>
            <a:ext cx="5806440" cy="237744"/>
          </a:xfrm>
          <a:prstGeom prst="rect">
            <a:avLst/>
          </a:prstGeom>
          <a:solidFill>
            <a:srgbClr val="EBF2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5349240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0052CC"/>
                </a:solidFill>
                <a:latin typeface="Arial"/>
              </a:rPr>
              <a:t>DÉCISIONS (3 RÉCENTES)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9632" y="5550408"/>
            <a:ext cx="5806440" cy="384048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91072" y="5605272"/>
            <a:ext cx="4251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Remplacement intégrateur — Appel d'offres lanc…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43032" y="5605272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>
                <a:solidFill>
                  <a:srgbClr val="64748B"/>
                </a:solidFill>
                <a:latin typeface="Arial"/>
              </a:rPr>
              <a:t>10/04/2025  ·  En cou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9632" y="5952744"/>
            <a:ext cx="5806440" cy="384048"/>
          </a:xfrm>
          <a:prstGeom prst="rect">
            <a:avLst/>
          </a:prstGeom>
          <a:solidFill>
            <a:srgbClr val="EDE9FE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1072" y="6007608"/>
            <a:ext cx="4251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Révision budget — Augmentation enveloppe de 26…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43032" y="600760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>
                <a:solidFill>
                  <a:srgbClr val="64748B"/>
                </a:solidFill>
                <a:latin typeface="Arial"/>
              </a:rPr>
              <a:t>07/04/2025  ·  Prise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99632" y="6355080"/>
            <a:ext cx="5806440" cy="384048"/>
          </a:xfrm>
          <a:prstGeom prst="rect">
            <a:avLst/>
          </a:prstGeom>
          <a:solidFill>
            <a:srgbClr val="DCFCE7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91072" y="6409944"/>
            <a:ext cx="4251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Report Go-Live — Décalage de 6 mois décidé en 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43032" y="6409944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>
                <a:solidFill>
                  <a:srgbClr val="64748B"/>
                </a:solidFill>
                <a:latin typeface="Arial"/>
              </a:rPr>
              <a:t>07/04/2025  ·  Appliq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583680"/>
            <a:ext cx="114574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>
                <a:solidFill>
                  <a:srgbClr val="94A3B8"/>
                </a:solidFill>
                <a:latin typeface="Arial"/>
              </a:rPr>
              <a:t>COPIL Mensuel Avril 2025  ·  24/04/2025  ·  Projetenne Confidentiel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