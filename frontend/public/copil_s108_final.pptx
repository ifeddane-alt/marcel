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B2545"/>
                </a:solidFill>
                <a:latin typeface="Arial"/>
              </a:rPr>
              <a:t>PROJETENNE  ·  EXPORT COPIL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545"/>
                </a:solidFill>
                <a:latin typeface="Arial"/>
              </a:rPr>
              <a:t>COPIL Stream 1 — S1-08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Arial"/>
              </a:rPr>
              <a:t>15/02/2026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4203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3 projets en périmètre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71800"/>
            <a:ext cx="11457432" cy="27432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Arial"/>
              </a:rPr>
              <a:t>PROJETS EN PÉRIMÈTRE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11457432" cy="35661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64008" cy="356616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3101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293B"/>
                </a:solidFill>
                <a:latin typeface="Arial"/>
              </a:rPr>
              <a:t>Projet Phoenix — Transformation Digitale Groupe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33101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rial"/>
              </a:rPr>
              <a:t>4 200 K€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30168"/>
            <a:ext cx="11457432" cy="35661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630168"/>
            <a:ext cx="64008" cy="356616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69417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293B"/>
                </a:solidFill>
                <a:latin typeface="Arial"/>
              </a:rPr>
              <a:t>Modernisation SI Finance &amp; Contrôle de 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4392" y="36941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rial"/>
              </a:rPr>
              <a:t>1 800 K€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14216"/>
            <a:ext cx="11457432" cy="35661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14216"/>
            <a:ext cx="64008" cy="356616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07822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293B"/>
                </a:solidFill>
                <a:latin typeface="Arial"/>
              </a:rPr>
              <a:t>Déploiement ERP SAP S/4HANA — Core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40782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rial"/>
              </a:rPr>
              <a:t>5 000 K€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Projetenne ·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Synthèse du Portefeuille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3 projets sélectionnés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43000"/>
          <a:ext cx="11823191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749039"/>
                <a:gridCol w="1645920"/>
                <a:gridCol w="1188720"/>
                <a:gridCol w="1188720"/>
                <a:gridCol w="1005840"/>
                <a:gridCol w="1280160"/>
                <a:gridCol w="121615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RAG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Responsable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Budget (K€)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EAC (K€)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Écart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Fin forecast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Projet Phoenix — Transformation Digitale Groupe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DG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4 200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4 550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EF4444"/>
                          </a:solidFill>
                          <a:latin typeface="Arial"/>
                        </a:rPr>
                        <a:t>+350 K€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Actif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28/02/2026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0B981"/>
                          </a:solidFill>
                          <a:latin typeface="Arial"/>
                        </a:rPr>
                        <a:t>Vert</a:t>
                      </a:r>
                    </a:p>
                  </a:txBody>
                  <a:tcPr marL="54864" marR="36576" marT="18288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Modernisation SI Finance &amp; Contrôle de Gestion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1 800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1 850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EF4444"/>
                          </a:solidFill>
                          <a:latin typeface="Arial"/>
                        </a:rPr>
                        <a:t>+50 K€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Actif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Rouge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DSI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5 000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6 300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EF4444"/>
                          </a:solidFill>
                          <a:latin typeface="Arial"/>
                        </a:rPr>
                        <a:t>+1 300 K€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Actif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31/03/2026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Cartographie des Risques P × I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15 risques au total  ·  Élevés : 4  ·  Modérés : 5  ·  Faibles : 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126480" cy="57923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280160"/>
            <a:ext cx="5212080" cy="685800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13533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E293B"/>
                </a:solidFill>
                <a:latin typeface="Arial"/>
              </a:rPr>
              <a:t>Risques ÉLEVÉS (P×I ≥ 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EF4444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057400"/>
            <a:ext cx="5212080" cy="685800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1305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E293B"/>
                </a:solidFill>
                <a:latin typeface="Arial"/>
              </a:rPr>
              <a:t>Risques MODÉRÉS (P×I 7–15)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59E0B"/>
                </a:solidFill>
                <a:latin typeface="Arial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834640"/>
            <a:ext cx="5212080" cy="685800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9077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E293B"/>
                </a:solidFill>
                <a:latin typeface="Arial"/>
              </a:rPr>
              <a:t>Risques FAIBLES (P×I ≤ 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926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490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TOP 5 RISQUES CRITIQUES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4005072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48272" y="4114800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[20] Corruption données migration batch FICO — 5 m…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Déploiement ERP SAP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434840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48272" y="4544568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44988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[20] Retard Go-Live de 6 mois — blueprint non vali…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Déploiement ERP SAP 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864608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48272" y="4974336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49286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[16] Architecture legacy incompatible avec nouveau…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Projet Phoenix — Tra…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5294376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48272" y="5404104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53583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[16] Dépassement budget intégrateur Capgemini &gt; 40…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Déploiement ERP SAP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724144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48272" y="5833872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57881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[12] Dépassement budget phase 2 — module reporting…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Projet Phoenix — Tra…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Top Risques Critiques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Projets sélectionnés — 10 risques présentés par criticité décroissante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43000"/>
          <a:ext cx="1182319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457200"/>
                <a:gridCol w="3931920"/>
                <a:gridCol w="1005840"/>
                <a:gridCol w="2743200"/>
                <a:gridCol w="777240"/>
                <a:gridCol w="914400"/>
                <a:gridCol w="1673352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Crit.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Risque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Catégorie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Échéance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Propriétaire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Corruption données migration batch FICO — 5 millions de lignes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31/08/2025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Retard Go-Live de 6 mois — blueprint non validé par COMEX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31/12/2025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Architecture legacy incompatible avec nouveaux modules SI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Dépassement budget intégrateur Capgemini &gt; 40%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30/06/2025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Dépassement budget phase 2 — module reporting exécutif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30/09/2025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Pénurie consultants SAP FICO certifiés S/4HANA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ressource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30/09/2025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Retard PI Planning Q3 — dépendances inter-équipes non résolues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15/08/2025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Retard recette fonctionnelle FICO/SD — refus MOA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15/06/2025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Non-conformité RGPD lors migration données RH vers S/4HANA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conformité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0B98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36576" marT="18288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Départ Scrum Master clé en cours de PI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ressource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accepté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30/06/2025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Décisions Clés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10 décisions  ·  10 dernières décisions du périmètre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43000"/>
          <a:ext cx="1182319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4572000"/>
                <a:gridCol w="1097280"/>
                <a:gridCol w="914400"/>
                <a:gridCol w="2743200"/>
                <a:gridCol w="1627632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Décision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Catégorie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Responsable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20/04/2025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Extension périmètre — Intégration legacy ERP SAP dans Wave 2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En cours</a:t>
                      </a:r>
                    </a:p>
                  </a:txBody>
                  <a:tcPr marL="54864" marR="36576" marT="18288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15/04/2025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Go / No-Go — Lancement Wave 2 (Modules Finance &amp; RH)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stratégique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Prise</a:t>
                      </a:r>
                    </a:p>
                  </a:txBody>
                  <a:tcPr marL="54864" marR="36576" marT="18288"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15/04/2025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Validation go-live Phase 2 — Module Controlling &amp; Trésorerie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Prise</a:t>
                      </a:r>
                    </a:p>
                  </a:txBody>
                  <a:tcPr marL="54864" marR="36576" marT="18288"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10/04/2025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Remplacement intégrateur — Appel d'offres lancé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ressources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En cours</a:t>
                      </a:r>
                    </a:p>
                  </a:txBody>
                  <a:tcPr marL="54864" marR="36576" marT="18288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07/04/2025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Révision budget — Augmentation enveloppe de 26% validée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budgétaire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Prise</a:t>
                      </a:r>
                    </a:p>
                  </a:txBody>
                  <a:tcPr marL="54864" marR="36576" marT="18288"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07/04/2025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Report Go-Live — Décalage de 6 mois décidé en Steering Committee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20/03/2025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Conformité DSP2 — Audit tiers validé avant chaque go-live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conformité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En cours</a:t>
                      </a:r>
                    </a:p>
                  </a:txBody>
                  <a:tcPr marL="54864" marR="36576" marT="18288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20/03/2025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Réduction périmètre Wave 1 — Module SD reporté en Wave 2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01/03/2025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Arbitrage scope — Retrait module Reporting Exécutif de Wave 1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15/02/2025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Réduction périmètre — Retrait flux SWIFT Phase 1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Projet Phoenix — Transformation Digitale Groupe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13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rial"/>
              </a:rPr>
              <a:t>PRJ-2025-001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13232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F59E0B"/>
                </a:solidFill>
                <a:latin typeface="Arial"/>
              </a:rPr>
              <a:t>DG  ·  SAFE  ·  Actif  ·  RAG ORANGE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08176"/>
          <a:ext cx="580644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898"/>
                <a:gridCol w="319354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1 260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693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2 940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1 617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Budget total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4 200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EAC (Estimate At Completion)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4 550 K€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Écart EAC / Budget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+350 K€  (+8.3%)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3575304"/>
            <a:ext cx="5806440" cy="118872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575304"/>
            <a:ext cx="3193542" cy="118872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712464"/>
            <a:ext cx="580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Arial"/>
              </a:rPr>
              <a:t>Avancement budgétaire : 55%  (2 310 K€ / 4 200 K€)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PLANNING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08176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/>
                <a:gridCol w="301934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Début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15/01/2025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baseline (initiale)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31/12/2025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forecast (actuelle)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28/02/2026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Délai vs baseline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+59 jours (retard)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Avancement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4 200 / 8 400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82880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JALONS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01421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78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01/12/2025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Déploiement national Phase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37997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31/08/2025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Livraison MVP Core Digitale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74573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22/03/2025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PI Planning #1 — PI2025-Q1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RISQUES (TOP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14216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4133088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[16] Architecture legacy incompatible avec nouveaux modul…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416552"/>
            <a:ext cx="5806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35424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4714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[12] Dépassement budget phase 2 — module reporting exécut…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18888"/>
            <a:ext cx="5806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4937760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8737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[9] Retard PI Planning Q3 — dépendances inter-équipes no…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312664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DÉCISIONS (3 RÉCENTES)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5550408"/>
            <a:ext cx="5806440" cy="38404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6052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Extension périmètre — Intégration legacy ERP 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5605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20/04/2025  ·  En cou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5952744"/>
            <a:ext cx="5806440" cy="38404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60076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Go / No-Go — Lancement Wave 2 (Modules Finance…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6007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15/04/2025  ·  Prise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355080"/>
            <a:ext cx="5806440" cy="3840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64099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Arbitrage scope — Retrait module Reporting Exé…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6409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01/03/2025  ·  Appliq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PROJET PHOENIX — TRANSFORMATION DIGITALE GROUPE  ·  CONSOMMATION PAR ÉQUIPE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Répartition JH &amp; coûts · RAF valorisé · Atterrissage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9728" cy="1143000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CONSOMMÉ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052CC"/>
                </a:solidFill>
                <a:latin typeface="Arial"/>
              </a:rPr>
              <a:t>51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77 JH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23444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RAF VALORISÉ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59E0B"/>
                </a:solidFill>
                <a:latin typeface="Arial"/>
              </a:rPr>
              <a:t>18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28 JH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0" y="1234440"/>
            <a:ext cx="109728" cy="114300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ATTERRISSAGE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2545"/>
                </a:solidFill>
                <a:latin typeface="Arial"/>
              </a:rPr>
              <a:t>69 K€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prev. 69 K€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2651760"/>
          <a:ext cx="10378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51560"/>
                <a:gridCol w="1234440"/>
                <a:gridCol w="1508760"/>
                <a:gridCol w="1508760"/>
                <a:gridCol w="1005840"/>
                <a:gridCol w="1508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Équipe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prévus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consommés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prévu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consommé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A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55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40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39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29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15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B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50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37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30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22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13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7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105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77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69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51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28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18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Modernisation SI Finance &amp; Contrôle de 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13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rial"/>
              </a:rPr>
              <a:t>PRJ-2024-008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13232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10B981"/>
                </a:solidFill>
                <a:latin typeface="Arial"/>
              </a:rPr>
              <a:t>CFO  ·  WATERFALL  ·  Actif  ·  RAG VERT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08176"/>
          <a:ext cx="580644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898"/>
                <a:gridCol w="319354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360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252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1 440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1 008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Budget total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1 800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EAC (Estimate At Completion)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1 850 K€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Écart EAC / Budget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+50 K€  (+2.8%)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3575304"/>
            <a:ext cx="5806440" cy="118872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575304"/>
            <a:ext cx="4064508" cy="118872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712464"/>
            <a:ext cx="580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Arial"/>
              </a:rPr>
              <a:t>Avancement budgétaire : 70%  (1 260 K€ / 1 800 K€)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PLANNING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08176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/>
                <a:gridCol w="301934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Début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01/09/2024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baseline (initiale)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30/06/2025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forecast (actuelle)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Délai vs baseline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+31 jours (retard)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Avancement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2 520 / 3 600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82880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JALONS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01421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78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31/07/2025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Go-Live SI Finance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37997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31/05/2025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Migration données historiques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74573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30/04/2025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Recette fonctionnelle SI Finance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RISQUES (TOP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14216"/>
            <a:ext cx="5806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4133088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[9] Retard recette fonctionnelle FICO/SD — refus MOA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416552"/>
            <a:ext cx="5806440" cy="384048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35424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4714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[6] Incompatibilité modules comptabilité analytique avec…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18888"/>
            <a:ext cx="5806440" cy="384048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4937760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8737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[6] Indisponibilité experts métier Contrôle de Gestion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312664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DÉCISIONS (3 RÉCENTES)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5550408"/>
            <a:ext cx="5806440" cy="38404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6052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Validation go-live Phase 2 — Module Controllin…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5605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15/04/2025  ·  Prise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5952744"/>
            <a:ext cx="5806440" cy="38404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60076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Conformité DSP2 — Audit tiers validé avant cha…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6007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20/03/2025  ·  En cou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355080"/>
            <a:ext cx="5806440" cy="3840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64099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Réduction périmètre — Retrait flux SWIFT Phase…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6409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15/02/2025  ·  Appliq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MODERNISATION SI FINANCE &amp; CONTRÔLE DE GESTION  ·  CONSOMMATION PAR ÉQUIPE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Répartition JH &amp; coûts · RAF valorisé · Atterrissage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9728" cy="1143000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CONSOMMÉ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052CC"/>
                </a:solidFill>
                <a:latin typeface="Arial"/>
              </a:rPr>
              <a:t>29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45 JH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23444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RAF VALORISÉ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59E0B"/>
                </a:solidFill>
                <a:latin typeface="Arial"/>
              </a:rPr>
              <a:t>9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15 JH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0" y="1234440"/>
            <a:ext cx="109728" cy="114300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ATTERRISSAGE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2545"/>
                </a:solidFill>
                <a:latin typeface="Arial"/>
              </a:rPr>
              <a:t>39 K€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prev. 39 K€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2651760"/>
          <a:ext cx="10378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51560"/>
                <a:gridCol w="1234440"/>
                <a:gridCol w="1508760"/>
                <a:gridCol w="1508760"/>
                <a:gridCol w="1005840"/>
                <a:gridCol w="1508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Équipe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prévus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consommés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prévu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consommé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B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35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27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24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18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8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5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A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25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18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15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7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4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60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45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39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29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15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9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Déploiement ERP SAP S/4HANA — Core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13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rial"/>
              </a:rPr>
              <a:t>PRJ-2024-003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13232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EF4444"/>
                </a:solidFill>
                <a:latin typeface="Arial"/>
              </a:rPr>
              <a:t>DSI  ·  WATERFALL  ·  Actif  ·  RAG ROUGE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08176"/>
          <a:ext cx="580644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898"/>
                <a:gridCol w="319354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2 000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1 640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3 000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2 460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Budget total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5 000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EAC (Estimate At Completion)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6 300 K€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Écart EAC / Budget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+1 300 K€  (+26.0%)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3575304"/>
            <a:ext cx="5806440" cy="118872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575304"/>
            <a:ext cx="4761280" cy="118872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712464"/>
            <a:ext cx="580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Arial"/>
              </a:rPr>
              <a:t>Avancement budgétaire : 82%  (4 100 K€ / 5 000 K€)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PLANNING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08176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/>
                <a:gridCol w="301934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Début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01/03/2024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baseline (initiale)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30/09/2025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forecast (actuelle)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31/03/2026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Délai vs baseline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+182 jours (retard)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Avancement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8 200 / 10 000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82880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JALONS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01421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78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31/03/2026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Go-Live SAP S/4HANA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37997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31/07/2025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Recette intégration ERP-BI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74573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15/08/2024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Blueprint validé FICO/SD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RISQUES (TOP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14216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4133088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[20] Corruption données migration batch FICO — 5 millions…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416552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35424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4714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[20] Retard Go-Live de 6 mois — blueprint non validé par 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18888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4937760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8737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[16] Dépassement budget intégrateur Capgemini &gt; 40%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312664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DÉCISIONS (3 RÉCENTES)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5550408"/>
            <a:ext cx="5806440" cy="38404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6052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Remplacement intégrateur — Appel d'offres lanc…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5605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10/04/2025  ·  En cou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5952744"/>
            <a:ext cx="5806440" cy="38404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60076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Révision budget — Augmentation enveloppe de 26…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6007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07/04/2025  ·  Prise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355080"/>
            <a:ext cx="5806440" cy="3840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64099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Report Go-Live — Décalage de 6 mois décidé en 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6409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07/04/2025  ·  Appliq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DÉPLOIEMENT ERP SAP S/4HANA — CORE MODEL  ·  CONSOMMATION PAR ÉQUIPE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Répartition JH &amp; coûts · RAF valorisé · Atterrissage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9728" cy="1143000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CONSOMMÉ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052CC"/>
                </a:solidFill>
                <a:latin typeface="Arial"/>
              </a:rPr>
              <a:t>46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78 JH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23444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RAF VALORISÉ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59E0B"/>
                </a:solidFill>
                <a:latin typeface="Arial"/>
              </a:rPr>
              <a:t>10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17 JH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0" y="1234440"/>
            <a:ext cx="109728" cy="114300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ATTERRISSAGE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2545"/>
                </a:solidFill>
                <a:latin typeface="Arial"/>
              </a:rPr>
              <a:t>57 K€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prev. 57 K€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2651760"/>
          <a:ext cx="10378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51560"/>
                <a:gridCol w="1234440"/>
                <a:gridCol w="1508760"/>
                <a:gridCol w="1508760"/>
                <a:gridCol w="1005840"/>
                <a:gridCol w="1508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Équipe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prévus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consommés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prévu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consommé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A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65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53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39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31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12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7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B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30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25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18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15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5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3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95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78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57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46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17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Stream 1 — S1-08 Final  ·  15/02/2026  ·  Projetenne 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